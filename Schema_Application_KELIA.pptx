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91440"/>
            <a:ext cx="1179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Application IA de Migration Produit KELIA  —  Vue d'ensemble du fonctionnement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868680"/>
            <a:ext cx="2743200" cy="411480"/>
          </a:xfrm>
          <a:prstGeom prst="roundRect">
            <a:avLst>
              <a:gd name="adj" fmla="val 5000"/>
            </a:avLst>
          </a:prstGeom>
          <a:solidFill>
            <a:srgbClr val="1E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DOCUMENTS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307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CF0F5"/>
                </a:solidFill>
              </a:rPr>
              <a:t>Uploadés par produit dans l'application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1627632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📄  Conditions Générales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2057400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📄  Note Technique Actuarielle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2487168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📄  Notice d'information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2916935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📄  Avenant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3346703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📊  Extraction BOSS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3776471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📝  CR Atelier / Décision de conception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" y="4206239"/>
            <a:ext cx="2596896" cy="384048"/>
          </a:xfrm>
          <a:prstGeom prst="roundRect">
            <a:avLst>
              <a:gd name="adj" fmla="val 5000"/>
            </a:avLst>
          </a:prstGeom>
          <a:solidFill>
            <a:srgbClr val="175E3A"/>
          </a:solidFill>
          <a:ln w="12700">
            <a:solidFill>
              <a:srgbClr val="1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>
                <a:solidFill>
                  <a:srgbClr val="FFFFFF"/>
                </a:solidFill>
              </a:rPr>
              <a:t>📋  Fiche Produit existante (si dispo)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35224" y="3291840"/>
            <a:ext cx="301752" cy="0"/>
          </a:xfrm>
          <a:prstGeom prst="line">
            <a:avLst/>
          </a:prstGeom>
          <a:ln w="38100">
            <a:solidFill>
              <a:srgbClr val="E87622"/>
            </a:solidFill>
            <a:tailEnd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46120" y="868680"/>
            <a:ext cx="3108960" cy="411480"/>
          </a:xfrm>
          <a:prstGeom prst="roundRect">
            <a:avLst>
              <a:gd name="adj" fmla="val 5000"/>
            </a:avLst>
          </a:prstGeom>
          <a:solidFill>
            <a:srgbClr val="E87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TRAITEMENT PAR L'IA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3075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CF0F5"/>
                </a:solidFill>
              </a:rPr>
              <a:t>Modèles Claude (Anthropic)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39" y="1645920"/>
            <a:ext cx="347472" cy="347472"/>
          </a:xfrm>
          <a:prstGeom prst="roundRect">
            <a:avLst>
              <a:gd name="adj" fmla="val 5000"/>
            </a:avLst>
          </a:prstGeom>
          <a:solidFill>
            <a:srgbClr val="E876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1645920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6B3D00"/>
          </a:solidFill>
          <a:ln w="12700">
            <a:solidFill>
              <a:srgbClr val="E8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Classification automatique</a:t>
            </a:r>
          </a:p>
          <a:p>
            <a:pPr algn="l"/>
            <a:r>
              <a:rPr sz="800" b="0">
                <a:solidFill>
                  <a:srgbClr val="ECF0F5"/>
                </a:solidFill>
              </a:rPr>
              <a:t>L'IA identifie et classe chaque
document uploadé (type, résumé,
score de confiance)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2670048"/>
            <a:ext cx="347472" cy="347472"/>
          </a:xfrm>
          <a:prstGeom prst="roundRect">
            <a:avLst>
              <a:gd name="adj" fmla="val 5000"/>
            </a:avLst>
          </a:prstGeom>
          <a:solidFill>
            <a:srgbClr val="E876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2670048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6B3D00"/>
          </a:solidFill>
          <a:ln w="12700">
            <a:solidFill>
              <a:srgbClr val="E8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Extraction des données produit</a:t>
            </a:r>
          </a:p>
          <a:p>
            <a:pPr algn="l"/>
            <a:r>
              <a:rPr sz="800" b="0">
                <a:solidFill>
                  <a:srgbClr val="ECF0F5"/>
                </a:solidFill>
              </a:rPr>
              <a:t>L'IA lit les CG, Notes Techniques,
Avenants… et en extrait
les paramètres clés du produit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39" y="3694176"/>
            <a:ext cx="347472" cy="347472"/>
          </a:xfrm>
          <a:prstGeom prst="roundRect">
            <a:avLst>
              <a:gd name="adj" fmla="val 5000"/>
            </a:avLst>
          </a:prstGeom>
          <a:solidFill>
            <a:srgbClr val="E876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694176"/>
            <a:ext cx="2560320" cy="914400"/>
          </a:xfrm>
          <a:prstGeom prst="roundRect">
            <a:avLst>
              <a:gd name="adj" fmla="val 5000"/>
            </a:avLst>
          </a:prstGeom>
          <a:solidFill>
            <a:srgbClr val="6B3D00"/>
          </a:solidFill>
          <a:ln w="12700">
            <a:solidFill>
              <a:srgbClr val="E876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Génération de la Fiche Produit</a:t>
            </a:r>
          </a:p>
          <a:p>
            <a:pPr algn="l"/>
            <a:r>
              <a:rPr sz="800" b="0">
                <a:solidFill>
                  <a:srgbClr val="ECF0F5"/>
                </a:solidFill>
              </a:rPr>
              <a:t>L'IA remplit champ par champ
le template KELIA (.xlsx)
à partir des données extraites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64223" y="2834640"/>
            <a:ext cx="210313" cy="0"/>
          </a:xfrm>
          <a:prstGeom prst="line">
            <a:avLst/>
          </a:prstGeom>
          <a:ln w="38100">
            <a:solidFill>
              <a:srgbClr val="6A3C9A"/>
            </a:solidFill>
            <a:tailEnd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0" y="868680"/>
            <a:ext cx="2194560" cy="411480"/>
          </a:xfrm>
          <a:prstGeom prst="roundRect">
            <a:avLst>
              <a:gd name="adj" fmla="val 5000"/>
            </a:avLst>
          </a:prstGeom>
          <a:solidFill>
            <a:srgbClr val="6A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LIVRABLE GÉNÉRÉ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3075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CF0F5"/>
                </a:solidFill>
              </a:rPr>
              <a:t>Sortie principale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75120" y="1627632"/>
            <a:ext cx="2011679" cy="1371600"/>
          </a:xfrm>
          <a:prstGeom prst="roundRect">
            <a:avLst>
              <a:gd name="adj" fmla="val 5000"/>
            </a:avLst>
          </a:prstGeom>
          <a:solidFill>
            <a:srgbClr val="3D1E6E"/>
          </a:solidFill>
          <a:ln w="19050">
            <a:solidFill>
              <a:srgbClr val="6A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📊  Fiche Produit KELIA</a:t>
            </a:r>
          </a:p>
          <a:p>
            <a:pPr algn="ctr"/>
            <a:r>
              <a:rPr sz="800">
                <a:solidFill>
                  <a:srgbClr val="ECF0F5"/>
                </a:solidFill>
              </a:rPr>
              <a:t>
(.xlsx — Template KELIA
rempli automatiquement)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87384" y="2743200"/>
            <a:ext cx="210312" cy="0"/>
          </a:xfrm>
          <a:prstGeom prst="line">
            <a:avLst/>
          </a:prstGeom>
          <a:ln w="38100">
            <a:solidFill>
              <a:srgbClr val="C0392B"/>
            </a:solidFill>
            <a:tailEnd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06840" y="868680"/>
            <a:ext cx="2999232" cy="41148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CONTRÔLES &amp; VÉRIFICATIONS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307592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CF0F5"/>
                </a:solidFill>
              </a:rPr>
              <a:t>Validation automatisée par l'IA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79992" y="1627632"/>
            <a:ext cx="2852927" cy="1325880"/>
          </a:xfrm>
          <a:prstGeom prst="roundRect">
            <a:avLst>
              <a:gd name="adj" fmla="val 5000"/>
            </a:avLst>
          </a:prstGeom>
          <a:solidFill>
            <a:srgbClr val="C0392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Recette</a:t>
            </a:r>
          </a:p>
          <a:p>
            <a:pPr algn="l"/>
            <a:r>
              <a:rPr sz="800">
                <a:solidFill>
                  <a:srgbClr val="ECF0F5"/>
                </a:solidFill>
              </a:rPr>
              <a:t>Fiche KELIA générée
↕
Valeurs attendues
→ Rapport d'écarts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79992" y="3063240"/>
            <a:ext cx="2852927" cy="1325880"/>
          </a:xfrm>
          <a:prstGeom prst="roundRect">
            <a:avLst>
              <a:gd name="adj" fmla="val 5000"/>
            </a:avLst>
          </a:prstGeom>
          <a:solidFill>
            <a:srgbClr val="A02E8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Conformité contractuelle</a:t>
            </a:r>
          </a:p>
          <a:p>
            <a:pPr algn="l"/>
            <a:r>
              <a:rPr sz="800">
                <a:solidFill>
                  <a:srgbClr val="ECF0F5"/>
                </a:solidFill>
              </a:rPr>
              <a:t>Paramétrage KELIA
↕
Document contractuel
(CG / Notice)
→ Détection anomalies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79992" y="4498848"/>
            <a:ext cx="2852927" cy="1325880"/>
          </a:xfrm>
          <a:prstGeom prst="roundRect">
            <a:avLst>
              <a:gd name="adj" fmla="val 5000"/>
            </a:avLst>
          </a:prstGeom>
          <a:solidFill>
            <a:srgbClr val="8B451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FFFF"/>
                </a:solidFill>
              </a:rPr>
              <a:t>Non-régression</a:t>
            </a:r>
          </a:p>
          <a:p>
            <a:pPr algn="l"/>
            <a:r>
              <a:rPr sz="800">
                <a:solidFill>
                  <a:srgbClr val="ECF0F5"/>
                </a:solidFill>
              </a:rPr>
              <a:t>Paramétrage KELIA V1
↕
Paramétrage KELIA V2
→ Rapport des différences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565392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CF0F5"/>
                </a:solidFill>
              </a:rPr>
              <a:t>© Accenture — Confidentiel — Application IA Migration KELIA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